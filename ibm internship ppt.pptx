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5" r:id="rId7"/>
    <p:sldId id="278" r:id="rId8"/>
    <p:sldId id="279" r:id="rId9"/>
    <p:sldId id="262" r:id="rId10"/>
    <p:sldId id="290" r:id="rId11"/>
    <p:sldId id="291" r:id="rId12"/>
    <p:sldId id="292"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IN"/>
                        <a:t>Gaddam Manogna Reddy</a:t>
                      </a:r>
                      <a:endParaRPr lang="en-IN"/>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a:t>maanognaredy@gmail.com</a:t>
                      </a:r>
                      <a:endParaRPr lang="en-IN"/>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a:t>7981914551</a:t>
                      </a:r>
                      <a:endParaRPr lang="en-IN"/>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US" sz="2400" b="1">
                <a:highlight>
                  <a:srgbClr val="FFFF00"/>
                </a:highlight>
              </a:rPr>
              <a:t>[ </a:t>
            </a:r>
            <a:r>
              <a:rPr lang="en-US" altLang="en-US" sz="2400" b="1">
                <a:highlight>
                  <a:srgbClr val="FFFF00"/>
                </a:highlight>
              </a:rPr>
              <a:t>Education / Artificial Intelligence</a:t>
            </a:r>
            <a:r>
              <a:rPr lang="en-US" sz="2400" b="1">
                <a:highlight>
                  <a:srgbClr val="FFFF00"/>
                </a:highlight>
              </a:rPr>
              <a:t>]</a:t>
            </a:r>
            <a:endParaRPr lang="en-IN" sz="2400" b="1">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t>
            </a:r>
            <a:r>
              <a:rPr lang="en-US" sz="2400" b="1">
                <a:highlight>
                  <a:srgbClr val="FFFF00"/>
                </a:highlight>
              </a:rPr>
              <a:t>[</a:t>
            </a:r>
            <a:r>
              <a:rPr lang="en-US" altLang="en-US" sz="2400" b="1">
                <a:highlight>
                  <a:srgbClr val="FFFF00"/>
                </a:highlight>
              </a:rPr>
              <a:t>AI Interview Trainer Agent using IBM watsonx.ai </a:t>
            </a:r>
            <a:r>
              <a:rPr lang="en-US" sz="2400" b="1">
                <a:highlight>
                  <a:srgbClr val="FFFF00"/>
                </a:highlight>
              </a:rPr>
              <a:t>]</a:t>
            </a:r>
            <a:endParaRPr lang="en-IN" sz="2400" b="1">
              <a:highlight>
                <a:srgbClr val="FFFF00"/>
              </a:highlight>
            </a:endParaRPr>
          </a:p>
        </p:txBody>
      </p:sp>
      <p:pic>
        <p:nvPicPr>
          <p:cNvPr id="5" name="Picture 4"/>
          <p:cNvPicPr>
            <a:picLocks noChangeAspect="1"/>
          </p:cNvPicPr>
          <p:nvPr/>
        </p:nvPicPr>
        <p:blipFill>
          <a:blip r:embed="rId1"/>
          <a:stretch>
            <a:fillRect/>
          </a:stretch>
        </p:blipFill>
        <p:spPr>
          <a:xfrm>
            <a:off x="4038600" y="3581400"/>
            <a:ext cx="825500" cy="10826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08837" y="864646"/>
            <a:ext cx="11357834" cy="3846195"/>
          </a:xfrm>
          <a:prstGeom prst="rect">
            <a:avLst/>
          </a:prstGeom>
          <a:noFill/>
        </p:spPr>
        <p:txBody>
          <a:bodyPr wrap="square" lIns="91440" tIns="45720" rIns="91440" bIns="45720" rtlCol="0" anchor="t">
            <a:spAutoFit/>
          </a:bodyPr>
          <a:lstStyle/>
          <a:p>
            <a:pPr fontAlgn="base"/>
            <a:r>
              <a:rPr lang="en-US" sz="2000"/>
              <a:t>Problem Statement: Predicting Eligibility NSAP for using Machine Learning</a:t>
            </a:r>
            <a:endParaRPr lang="en-US" sz="2000"/>
          </a:p>
          <a:p>
            <a:pPr>
              <a:lnSpc>
                <a:spcPct val="150000"/>
              </a:lnSpc>
            </a:pPr>
            <a:r>
              <a:rPr lang="en-US" altLang="en-US" sz="2000"/>
              <a:t>Preparing for technical interviews is challenging because candidates often lack personalized practice, role-specific interview questions, and constructive feedback.</a:t>
            </a:r>
            <a:endParaRPr lang="en-US" altLang="en-US" sz="2000"/>
          </a:p>
          <a:p>
            <a:pPr>
              <a:lnSpc>
                <a:spcPct val="150000"/>
              </a:lnSpc>
            </a:pPr>
            <a:r>
              <a:rPr lang="en-US" altLang="en-US" sz="2000"/>
              <a:t>The objective of this project is to develop an AI-powered Interview Trainer Agent that generates technical and HR interview questions, evaluates candidate responses, and provides personalized recommendations based on the candidate's job role, experience level, and uploaded resume.</a:t>
            </a:r>
            <a:endParaRPr lang="en-US" altLang="en-US" sz="2000"/>
          </a:p>
          <a:p>
            <a:pPr>
              <a:lnSpc>
                <a:spcPct val="150000"/>
              </a:lnSpc>
            </a:pPr>
            <a:r>
              <a:rPr lang="en-US" altLang="en-US" sz="2000"/>
              <a:t>The solution uses IBM watsonx.ai with IBM Granite Foundation Models to deliver an intelligent interview preparation experience.</a:t>
            </a:r>
            <a:endParaRPr lang="en-US" altLang="en-US" sz="2000"/>
          </a:p>
          <a:p>
            <a:endParaRPr lang="en-IN"/>
          </a:p>
        </p:txBody>
      </p:sp>
      <p:sp>
        <p:nvSpPr>
          <p:cNvPr id="3" name="TextBox 2"/>
          <p:cNvSpPr txBox="1"/>
          <p:nvPr/>
        </p:nvSpPr>
        <p:spPr>
          <a:xfrm>
            <a:off x="351954" y="401529"/>
            <a:ext cx="7214616" cy="521970"/>
          </a:xfrm>
          <a:prstGeom prst="rect">
            <a:avLst/>
          </a:prstGeom>
          <a:noFill/>
        </p:spPr>
        <p:txBody>
          <a:bodyPr wrap="square" rtlCol="0">
            <a:spAutoFit/>
          </a:bodyPr>
          <a:lstStyle/>
          <a:p>
            <a:r>
              <a:rPr lang="en-US" sz="2800" b="1"/>
              <a:t>Problem Statement -</a:t>
            </a:r>
            <a:endParaRPr lang="en-US" sz="2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23875" y="902970"/>
            <a:ext cx="11131550" cy="5807710"/>
          </a:xfrm>
          <a:prstGeom prst="rect">
            <a:avLst/>
          </a:prstGeom>
          <a:noFill/>
        </p:spPr>
        <p:txBody>
          <a:bodyPr wrap="square" lIns="91440" tIns="45720" rIns="91440" bIns="45720" rtlCol="0" anchor="t">
            <a:noAutofit/>
          </a:bodyPr>
          <a:lstStyle/>
          <a:p>
            <a:pPr algn="just" fontAlgn="base">
              <a:lnSpc>
                <a:spcPct val="150000"/>
              </a:lnSpc>
            </a:pPr>
            <a:r>
              <a:rPr lang="en-US" sz="2000" b="1"/>
              <a:t> </a:t>
            </a:r>
            <a:r>
              <a:rPr lang="en-US" altLang="en-US" sz="1800"/>
              <a:t>We propose an AI-powered Interview Trainer Agent using IBM watsonx.ai and the IBM Granite Foundation Model.</a:t>
            </a:r>
            <a:endParaRPr lang="en-US" altLang="en-US" sz="1800"/>
          </a:p>
          <a:p>
            <a:pPr algn="just" fontAlgn="base">
              <a:lnSpc>
                <a:spcPct val="150000"/>
              </a:lnSpc>
            </a:pPr>
            <a:r>
              <a:rPr lang="en-US" altLang="en-US" sz="1800"/>
              <a:t>The user uploads their resume or enters their job role and experience level through the Streamlit web application.</a:t>
            </a:r>
            <a:endParaRPr lang="en-US" altLang="en-US" sz="1800"/>
          </a:p>
          <a:p>
            <a:pPr algn="just" fontAlgn="base">
              <a:lnSpc>
                <a:spcPct val="150000"/>
              </a:lnSpc>
            </a:pPr>
            <a:r>
              <a:rPr lang="en-US" altLang="en-US" sz="1800"/>
              <a:t>The application extracts the resume information and securely sends the user details to IBM watsonx.ai using the IBM Cloud API.</a:t>
            </a:r>
            <a:endParaRPr lang="en-US" altLang="en-US" sz="1800"/>
          </a:p>
          <a:p>
            <a:pPr algn="just" fontAlgn="base">
              <a:lnSpc>
                <a:spcPct val="150000"/>
              </a:lnSpc>
            </a:pPr>
            <a:r>
              <a:rPr lang="en-US" altLang="en-US" sz="1800"/>
              <a:t>The IBM Granite </a:t>
            </a:r>
            <a:r>
              <a:rPr lang="en-US" altLang="en-US" sz="1800"/>
              <a:t>Foundation Model analyzes the candidate's profile and generates role-specific technical interview questions, HR interview questions, model answers, and interview preparation tips.</a:t>
            </a:r>
            <a:endParaRPr lang="en-US" altLang="en-US" sz="1800"/>
          </a:p>
          <a:p>
            <a:pPr algn="just" fontAlgn="base">
              <a:lnSpc>
                <a:spcPct val="150000"/>
              </a:lnSpc>
            </a:pPr>
            <a:r>
              <a:rPr lang="en-US" altLang="en-US" sz="1800"/>
              <a:t>The system also evaluates the candidate's responses and provides personalized feedback and recommendations to improve interview performance and confidence.</a:t>
            </a:r>
            <a:endParaRPr lang="en-US" altLang="en-US" sz="1800"/>
          </a:p>
          <a:p>
            <a:pPr algn="just" fontAlgn="base">
              <a:lnSpc>
                <a:spcPct val="150000"/>
              </a:lnSpc>
            </a:pPr>
            <a:r>
              <a:rPr lang="en-US" altLang="en-US" sz="1800"/>
              <a:t>This AI-powered solution helps students and job seekers prepare effectively for interviews through personalized guidance, making the interview preparation process more interactive, efficient, and accessible.</a:t>
            </a:r>
            <a:r>
              <a:rPr lang="en-US" sz="1800"/>
              <a:t> </a:t>
            </a:r>
            <a:endParaRPr lang="en-US" sz="1800"/>
          </a:p>
        </p:txBody>
      </p:sp>
      <p:sp>
        <p:nvSpPr>
          <p:cNvPr id="3" name="TextBox 2"/>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947420"/>
            <a:ext cx="10515600" cy="5423535"/>
          </a:xfrm>
          <a:prstGeom prst="rect">
            <a:avLst/>
          </a:prstGeom>
          <a:noFill/>
        </p:spPr>
        <p:txBody>
          <a:bodyPr wrap="square" lIns="91440" tIns="45720" rIns="91440" bIns="45720" rtlCol="0" anchor="t">
            <a:noAutofit/>
          </a:bodyPr>
          <a:lstStyle/>
          <a:p>
            <a:endParaRPr lang="en-US" sz="1800"/>
          </a:p>
          <a:p>
            <a:pPr marL="0" indent="0">
              <a:buFont typeface="Arial" panose="020B0604020202020204" pitchFamily="34" charset="0"/>
              <a:buNone/>
            </a:pPr>
            <a:r>
              <a:rPr lang="en-US" altLang="en-US" sz="1800" b="1"/>
              <a:t>IBM Cloud</a:t>
            </a:r>
            <a:endParaRPr lang="en-US" altLang="en-US" sz="1800" b="1"/>
          </a:p>
          <a:p>
            <a:pPr marL="285750" indent="-285750">
              <a:buFont typeface="Arial" panose="020B0604020202020204" pitchFamily="34" charset="0"/>
              <a:buChar char="•"/>
            </a:pPr>
            <a:r>
              <a:rPr lang="en-US" altLang="en-US" sz="1800"/>
              <a:t>IBM Cloud provides the infrastructure to build, deploy, and integrate the AI Interview Trainer Agent efficiently. It enables secure access to IBM watsonx.ai and the IBM Granite Foundation Model through API integration, ensuring reliable, scalable, and AI-powered interview question generation and evaluation.</a:t>
            </a:r>
            <a:endParaRPr lang="en-US" altLang="en-US" sz="1800"/>
          </a:p>
          <a:p>
            <a:pPr marL="0" indent="0">
              <a:buFont typeface="Arial" panose="020B0604020202020204" pitchFamily="34" charset="0"/>
              <a:buNone/>
            </a:pPr>
            <a:r>
              <a:rPr lang="en-US" altLang="en-US" sz="1800" b="1"/>
              <a:t>ML Algorithm / Model Used</a:t>
            </a:r>
            <a:endParaRPr lang="en-US" altLang="en-US" sz="1800" b="1"/>
          </a:p>
          <a:p>
            <a:pPr marL="285750" indent="-285750">
              <a:buFont typeface="Arial" panose="020B0604020202020204" pitchFamily="34" charset="0"/>
              <a:buChar char="•"/>
            </a:pPr>
            <a:r>
              <a:rPr lang="en-US" altLang="en-US" sz="1800"/>
              <a:t>IBM Granite 4 H Small Foundation Model (Large Language Model - LLM)</a:t>
            </a:r>
            <a:endParaRPr lang="en-US" altLang="en-US" sz="1800"/>
          </a:p>
          <a:p>
            <a:pPr marL="0" indent="0">
              <a:buFont typeface="Arial" panose="020B0604020202020204" pitchFamily="34" charset="0"/>
              <a:buNone/>
            </a:pPr>
            <a:r>
              <a:rPr lang="en-US" altLang="en-US" sz="1800" b="1"/>
              <a:t>Accuracy Obtained</a:t>
            </a:r>
            <a:endParaRPr lang="en-US" altLang="en-US" sz="1800" b="1"/>
          </a:p>
          <a:p>
            <a:pPr marL="285750" indent="-285750">
              <a:buFont typeface="Arial" panose="020B0604020202020204" pitchFamily="34" charset="0"/>
              <a:buChar char="•"/>
            </a:pPr>
            <a:r>
              <a:rPr lang="en-US" altLang="en-US" sz="1800"/>
              <a:t>Generated relevant and role-specific interview questions with high-quality AI responses based on the candidate's job role and experience level.</a:t>
            </a:r>
            <a:endParaRPr lang="en-US" altLang="en-US" sz="1800"/>
          </a:p>
          <a:p>
            <a:pPr marL="0" indent="0">
              <a:buFont typeface="Arial" panose="020B0604020202020204" pitchFamily="34" charset="0"/>
              <a:buNone/>
            </a:pPr>
            <a:r>
              <a:rPr lang="en-US" altLang="en-US" sz="1800"/>
              <a:t>(Since this is an LLM application, a traditional accuracy percentage is not applicable.)</a:t>
            </a:r>
            <a:endParaRPr lang="en-US" altLang="en-US" sz="1800"/>
          </a:p>
          <a:p>
            <a:pPr marL="0" indent="0">
              <a:buFont typeface="Arial" panose="020B0604020202020204" pitchFamily="34" charset="0"/>
              <a:buNone/>
            </a:pPr>
            <a:r>
              <a:rPr lang="en-US" altLang="en-US" sz="1800" b="1"/>
              <a:t>Enhancements and Hyperparameter Tuning</a:t>
            </a:r>
            <a:endParaRPr lang="en-US" altLang="en-US" sz="1800" b="1"/>
          </a:p>
          <a:p>
            <a:pPr marL="285750" indent="-285750">
              <a:buFont typeface="Arial" panose="020B0604020202020204" pitchFamily="34" charset="0"/>
              <a:buChar char="•"/>
            </a:pPr>
            <a:r>
              <a:rPr lang="en-US" altLang="en-US" sz="1800"/>
              <a:t>Prompt Engineering for role-specific interview generation.</a:t>
            </a:r>
            <a:endParaRPr lang="en-US" altLang="en-US" sz="1800"/>
          </a:p>
          <a:p>
            <a:pPr marL="285750" indent="-285750">
              <a:buFont typeface="Arial" panose="020B0604020202020204" pitchFamily="34" charset="0"/>
              <a:buChar char="•"/>
            </a:pPr>
            <a:r>
              <a:rPr lang="en-US" altLang="en-US" sz="1800"/>
              <a:t>Experience-level based question generation.</a:t>
            </a:r>
            <a:endParaRPr lang="en-US" altLang="en-US" sz="1800"/>
          </a:p>
          <a:p>
            <a:pPr marL="285750" indent="-285750">
              <a:buFont typeface="Arial" panose="020B0604020202020204" pitchFamily="34" charset="0"/>
              <a:buChar char="•"/>
            </a:pPr>
            <a:r>
              <a:rPr lang="en-US" altLang="en-US" sz="1800"/>
              <a:t>Temperature = 0.5 for balanced AI responses.</a:t>
            </a:r>
            <a:endParaRPr lang="en-US" altLang="en-US" sz="1800"/>
          </a:p>
          <a:p>
            <a:pPr marL="285750" indent="-285750">
              <a:buFont typeface="Arial" panose="020B0604020202020204" pitchFamily="34" charset="0"/>
              <a:buChar char="•"/>
            </a:pPr>
            <a:r>
              <a:rPr lang="en-US" altLang="en-US" sz="1800"/>
              <a:t>Max New Tokens = 300 for detailed outputs.</a:t>
            </a:r>
            <a:endParaRPr lang="en-US" altLang="en-US" sz="1800"/>
          </a:p>
          <a:p>
            <a:pPr marL="285750" indent="-285750">
              <a:buFont typeface="Arial" panose="020B0604020202020204" pitchFamily="34" charset="0"/>
              <a:buChar char="•"/>
            </a:pPr>
            <a:r>
              <a:rPr lang="en-US" altLang="en-US" sz="1800"/>
              <a:t>Resume-based and job role-based personalized interview preparation.</a:t>
            </a:r>
            <a:endParaRPr lang="en-US" altLang="en-US" sz="1800"/>
          </a:p>
          <a:p>
            <a:endParaRPr lang="en-US"/>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8" name="Picture 7" descr="F:/RAJENDER/GST REG/Screenshot 2026-07-14 141001.pngScreenshot 2026-07-14 141001"/>
          <p:cNvPicPr>
            <a:picLocks noChangeAspect="1"/>
          </p:cNvPicPr>
          <p:nvPr/>
        </p:nvPicPr>
        <p:blipFill>
          <a:blip r:embed="rId1"/>
          <a:srcRect l="4102" r="4102"/>
          <a:stretch>
            <a:fillRect/>
          </a:stretch>
        </p:blipFill>
        <p:spPr>
          <a:xfrm>
            <a:off x="170180" y="142240"/>
            <a:ext cx="6093460" cy="3736975"/>
          </a:xfrm>
          <a:prstGeom prst="rect">
            <a:avLst/>
          </a:prstGeom>
        </p:spPr>
      </p:pic>
      <p:pic>
        <p:nvPicPr>
          <p:cNvPr id="9" name="Picture 8" descr="F:/RAJENDER/GST REG/Screenshot 2026-07-14 141049.pngScreenshot 2026-07-14 141049"/>
          <p:cNvPicPr>
            <a:picLocks noChangeAspect="1"/>
          </p:cNvPicPr>
          <p:nvPr/>
        </p:nvPicPr>
        <p:blipFill>
          <a:blip r:embed="rId2"/>
          <a:srcRect l="4102" r="4102"/>
          <a:stretch>
            <a:fillRect/>
          </a:stretch>
        </p:blipFill>
        <p:spPr>
          <a:xfrm>
            <a:off x="5441315" y="3276600"/>
            <a:ext cx="6626860" cy="3511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endParaRPr lang="en-US" sz="2400" b="1">
              <a:solidFill>
                <a:schemeClr val="dk1"/>
              </a:solidFill>
              <a:latin typeface="Calibri" panose="020F0502020204030204"/>
              <a:ea typeface="Calibri" panose="020F0502020204030204"/>
              <a:cs typeface="Calibri" panose="020F0502020204030204"/>
            </a:endParaRPr>
          </a:p>
        </p:txBody>
      </p:sp>
      <p:pic>
        <p:nvPicPr>
          <p:cNvPr id="4" name="Picture 3" descr="F:/RAJENDER/GST REG/Screenshot 2026-07-14 141111.pngScreenshot 2026-07-14 141111"/>
          <p:cNvPicPr>
            <a:picLocks noChangeAspect="1"/>
          </p:cNvPicPr>
          <p:nvPr/>
        </p:nvPicPr>
        <p:blipFill>
          <a:blip r:embed="rId1"/>
          <a:srcRect l="4102" r="4102"/>
          <a:stretch>
            <a:fillRect/>
          </a:stretch>
        </p:blipFill>
        <p:spPr>
          <a:xfrm>
            <a:off x="159385" y="106045"/>
            <a:ext cx="6287135" cy="3610610"/>
          </a:xfrm>
          <a:prstGeom prst="rect">
            <a:avLst/>
          </a:prstGeom>
        </p:spPr>
      </p:pic>
      <p:pic>
        <p:nvPicPr>
          <p:cNvPr id="5" name="Picture 4" descr="F:/RAJENDER/GST REG/Screenshot 2026-07-14 142739.pngScreenshot 2026-07-14 142739"/>
          <p:cNvPicPr>
            <a:picLocks noChangeAspect="1"/>
          </p:cNvPicPr>
          <p:nvPr/>
        </p:nvPicPr>
        <p:blipFill>
          <a:blip r:embed="rId2"/>
          <a:srcRect l="4102" r="4102"/>
          <a:stretch>
            <a:fillRect/>
          </a:stretch>
        </p:blipFill>
        <p:spPr>
          <a:xfrm>
            <a:off x="5768975" y="3091815"/>
            <a:ext cx="6422390" cy="36429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endParaRPr lang="en-US" sz="2400" b="1">
              <a:solidFill>
                <a:schemeClr val="dk1"/>
              </a:solidFill>
              <a:latin typeface="Calibri" panose="020F0502020204030204"/>
              <a:ea typeface="Calibri" panose="020F0502020204030204"/>
              <a:cs typeface="Calibri" panose="020F0502020204030204"/>
            </a:endParaRPr>
          </a:p>
        </p:txBody>
      </p:sp>
      <p:pic>
        <p:nvPicPr>
          <p:cNvPr id="3" name="Picture 2" descr="F:/RAJENDER/GST REG/Screenshot 2026-07-14 142808.pngScreenshot 2026-07-14 142808"/>
          <p:cNvPicPr>
            <a:picLocks noChangeAspect="1"/>
          </p:cNvPicPr>
          <p:nvPr/>
        </p:nvPicPr>
        <p:blipFill>
          <a:blip r:embed="rId1"/>
          <a:srcRect l="4102" r="4102"/>
          <a:stretch>
            <a:fillRect/>
          </a:stretch>
        </p:blipFill>
        <p:spPr>
          <a:xfrm>
            <a:off x="152400" y="76200"/>
            <a:ext cx="6450965" cy="3506470"/>
          </a:xfrm>
          <a:prstGeom prst="rect">
            <a:avLst/>
          </a:prstGeom>
        </p:spPr>
      </p:pic>
      <p:pic>
        <p:nvPicPr>
          <p:cNvPr id="4" name="Picture 3" descr="F:/RAJENDER/GST REG/Screenshot 2026-07-14 143015.pngScreenshot 2026-07-14 143015"/>
          <p:cNvPicPr>
            <a:picLocks noChangeAspect="1"/>
          </p:cNvPicPr>
          <p:nvPr/>
        </p:nvPicPr>
        <p:blipFill>
          <a:blip r:embed="rId2"/>
          <a:srcRect l="4102" r="4102"/>
          <a:stretch>
            <a:fillRect/>
          </a:stretch>
        </p:blipFill>
        <p:spPr>
          <a:xfrm>
            <a:off x="5925820" y="3223895"/>
            <a:ext cx="6096635" cy="35375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JENDER/GST REG/Screenshot 2026-07-14 143041.pngScreenshot 2026-07-14 143041"/>
          <p:cNvPicPr>
            <a:picLocks noChangeAspect="1"/>
          </p:cNvPicPr>
          <p:nvPr/>
        </p:nvPicPr>
        <p:blipFill>
          <a:blip r:embed="rId1"/>
          <a:srcRect l="4102" r="4102"/>
          <a:stretch>
            <a:fillRect/>
          </a:stretch>
        </p:blipFill>
        <p:spPr>
          <a:xfrm>
            <a:off x="152400" y="152400"/>
            <a:ext cx="5819140" cy="3563620"/>
          </a:xfrm>
          <a:prstGeom prst="rect">
            <a:avLst/>
          </a:prstGeom>
        </p:spPr>
      </p:pic>
      <p:pic>
        <p:nvPicPr>
          <p:cNvPr id="3" name="Picture 2" descr="F:/RAJENDER/GST REG/Screenshot 2026-07-14 180246.pngScreenshot 2026-07-14 180246"/>
          <p:cNvPicPr>
            <a:picLocks noChangeAspect="1"/>
          </p:cNvPicPr>
          <p:nvPr/>
        </p:nvPicPr>
        <p:blipFill>
          <a:blip r:embed="rId2"/>
          <a:srcRect l="4102" r="4102"/>
          <a:stretch>
            <a:fillRect/>
          </a:stretch>
        </p:blipFill>
        <p:spPr>
          <a:xfrm>
            <a:off x="6010910" y="3110865"/>
            <a:ext cx="6156960" cy="36804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p:txBody>
          <a:bodyPr/>
          <a:p>
            <a:endParaRPr lang="en-US"/>
          </a:p>
        </p:txBody>
      </p:sp>
      <p:pic>
        <p:nvPicPr>
          <p:cNvPr id="4" name="Picture 3" descr="F:/RAJENDER/GST REG/Screenshot 2026-07-14 180321.pngScreenshot 2026-07-14 180321"/>
          <p:cNvPicPr>
            <a:picLocks noChangeAspect="1"/>
          </p:cNvPicPr>
          <p:nvPr/>
        </p:nvPicPr>
        <p:blipFill>
          <a:blip r:embed="rId1"/>
          <a:srcRect l="4102" r="4102"/>
          <a:stretch>
            <a:fillRect/>
          </a:stretch>
        </p:blipFill>
        <p:spPr>
          <a:xfrm>
            <a:off x="107950" y="131445"/>
            <a:ext cx="6294120" cy="3962400"/>
          </a:xfrm>
          <a:prstGeom prst="rect">
            <a:avLst/>
          </a:prstGeom>
        </p:spPr>
      </p:pic>
      <p:pic>
        <p:nvPicPr>
          <p:cNvPr id="5" name="Picture 4" descr="F:/RAJENDER/GST REG/Screenshot 2026-07-14 180610.pngScreenshot 2026-07-14 180610"/>
          <p:cNvPicPr>
            <a:picLocks noChangeAspect="1"/>
          </p:cNvPicPr>
          <p:nvPr/>
        </p:nvPicPr>
        <p:blipFill>
          <a:blip r:embed="rId2"/>
          <a:srcRect l="4102" r="4102"/>
          <a:stretch>
            <a:fillRect/>
          </a:stretch>
        </p:blipFill>
        <p:spPr>
          <a:xfrm>
            <a:off x="6339840" y="3189605"/>
            <a:ext cx="5756910" cy="3525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0769628" cy="3415030"/>
          </a:xfrm>
          <a:prstGeom prst="rect">
            <a:avLst/>
          </a:prstGeom>
          <a:noFill/>
        </p:spPr>
        <p:txBody>
          <a:bodyPr wrap="square" lIns="91440" tIns="45720" rIns="91440" bIns="45720" rtlCol="0" anchor="t">
            <a:spAutoFit/>
          </a:bodyPr>
          <a:lstStyle/>
          <a:p>
            <a:pPr marL="285750" indent="-285750" algn="just">
              <a:buChar char="•"/>
            </a:pPr>
            <a:r>
              <a:rPr lang="en-US" altLang="en-US" sz="1800"/>
              <a:t>The solution automates interview preparation by generating personalized technical and HR interview questions based on the candidate's job role and experience level.</a:t>
            </a:r>
            <a:endParaRPr lang="en-US" altLang="en-US" sz="1800"/>
          </a:p>
          <a:p>
            <a:pPr marL="285750" indent="-285750" algn="just">
              <a:buChar char="•"/>
            </a:pPr>
            <a:r>
              <a:rPr lang="en-US" altLang="en-US" sz="1800"/>
              <a:t>It uses IBM watsonx.ai with the IBM Granite Foundation Model to generate intelligent interview questions, model answers, and preparation tips without requiring manual question creation.</a:t>
            </a:r>
            <a:endParaRPr lang="en-US" altLang="en-US" sz="1800"/>
          </a:p>
          <a:p>
            <a:pPr marL="285750" indent="-285750" algn="just">
              <a:buChar char="•"/>
            </a:pPr>
            <a:r>
              <a:rPr lang="en-US" altLang="en-US" sz="1800"/>
              <a:t>The system provides AI-powered answer evaluation and personalized recommendations, helping candidates identify their strengths and areas for improvement.</a:t>
            </a:r>
            <a:endParaRPr lang="en-US" altLang="en-US" sz="1800"/>
          </a:p>
          <a:p>
            <a:pPr marL="285750" indent="-285750" algn="just">
              <a:buChar char="•"/>
            </a:pPr>
            <a:r>
              <a:rPr lang="en-US" altLang="en-US" sz="1800"/>
              <a:t>The application combines resume analysis, interview question generation, answer evaluation, and career guidance into a single user-friendly platform.</a:t>
            </a:r>
            <a:endParaRPr lang="en-US" altLang="en-US" sz="1800"/>
          </a:p>
          <a:p>
            <a:pPr marL="285750" indent="-285750" algn="just">
              <a:buChar char="•"/>
            </a:pPr>
            <a:r>
              <a:rPr lang="en-US" altLang="en-US" sz="1800"/>
              <a:t>Personalized prompt engineering enables the AI to generate role-specific and experience-based interview content, making interview preparation more effective and relevant.</a:t>
            </a:r>
            <a:endParaRPr lang="en-US" altLang="en-US" sz="1800"/>
          </a:p>
          <a:p>
            <a:pPr marL="285750" indent="-285750" algn="just">
              <a:buChar char="•"/>
            </a:pPr>
            <a:r>
              <a:rPr lang="en-US" altLang="en-US" sz="1800"/>
              <a:t>The web-based interface makes the solution easy to access, scalable, and beneficial for students, fresh graduates, and job seekers preparing for competitive interviews.</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create public </a:t>
            </a:r>
            <a:r>
              <a:rPr lang="en-US" sz="1850" b="0" i="0" u="none" strike="noStrike" cap="none"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endParaRPr lang="en-US" sz="1850">
              <a:solidFill>
                <a:srgbClr val="2B3541"/>
              </a:solidFill>
              <a:latin typeface="Times New Roman" panose="02020603050405020304"/>
              <a:ea typeface="Times New Roman" panose="02020603050405020304"/>
              <a:cs typeface="Times New Roman" panose="02020603050405020304"/>
            </a:endParaRPr>
          </a:p>
          <a:p>
            <a:pPr>
              <a:lnSpc>
                <a:spcPct val="162000"/>
              </a:lnSpc>
              <a:buClr>
                <a:srgbClr val="2B3541"/>
              </a:buClr>
              <a:buSzPts val="1850"/>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a:latin typeface="Times New Roman" panose="02020603050405020304"/>
                <a:ea typeface="Times New Roman" panose="02020603050405020304"/>
                <a:cs typeface="Times New Roman" panose="02020603050405020304"/>
              </a:rPr>
            </a:b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1) Data.csv file, 2) yourproblemstatement.pdf file  3) your project presntation.pptx file 4) Python Notebook downloaded from IBM Cloud</a:t>
            </a:r>
            <a:endParaRPr lang="en-US" sz="1850">
              <a:solidFill>
                <a:srgbClr val="2B3541"/>
              </a:solidFill>
              <a:latin typeface="Times New Roman" panose="02020603050405020304"/>
              <a:ea typeface="Times New Roman" panose="02020603050405020304"/>
              <a:cs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Resume-based RAG Integration to generate highly personalized interview questions based on the candidate's resume and skills.</a:t>
            </a:r>
            <a:endParaRPr lang="en-US" altLang="en-US" sz="1800">
              <a:solidFill>
                <a:srgbClr val="2B3541"/>
              </a:solidFill>
              <a:latin typeface="Arial" panose="020B0604020202020204" pitchFamily="34" charset="0"/>
              <a:cs typeface="Arial" panose="020B0604020202020204" pitchFamily="34" charset="0"/>
            </a:endParaRPr>
          </a:p>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Voice and Video Mock Interviews with speech recognition and confidence analysis for a real interview experience.</a:t>
            </a:r>
            <a:endParaRPr lang="en-US" altLang="en-US" sz="1800">
              <a:solidFill>
                <a:srgbClr val="2B3541"/>
              </a:solidFill>
              <a:latin typeface="Arial" panose="020B0604020202020204" pitchFamily="34" charset="0"/>
              <a:cs typeface="Arial" panose="020B0604020202020204" pitchFamily="34" charset="0"/>
            </a:endParaRPr>
          </a:p>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Company-Specific Interview Preparation by generating questions based on company job descriptions and interview patterns.</a:t>
            </a:r>
            <a:endParaRPr lang="en-US" altLang="en-US" sz="1800">
              <a:solidFill>
                <a:srgbClr val="2B3541"/>
              </a:solidFill>
              <a:latin typeface="Arial" panose="020B0604020202020204" pitchFamily="34" charset="0"/>
              <a:cs typeface="Arial" panose="020B0604020202020204" pitchFamily="34" charset="0"/>
            </a:endParaRPr>
          </a:p>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AI Performance Dashboard to track interview scores, progress, strengths, weaknesses, and improvement over time.</a:t>
            </a:r>
            <a:endParaRPr lang="en-US" altLang="en-US" sz="1800">
              <a:solidFill>
                <a:srgbClr val="2B3541"/>
              </a:solidFill>
              <a:latin typeface="Arial" panose="020B0604020202020204" pitchFamily="34" charset="0"/>
              <a:cs typeface="Arial" panose="020B0604020202020204" pitchFamily="34" charset="0"/>
            </a:endParaRPr>
          </a:p>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Deployment on IBM Cloud for secure, scalable, and real-time access from anywhere.</a:t>
            </a:r>
            <a:endParaRPr lang="en-US" altLang="en-US" sz="1800">
              <a:solidFill>
                <a:srgbClr val="2B3541"/>
              </a:solidFill>
              <a:latin typeface="Arial" panose="020B0604020202020204" pitchFamily="34" charset="0"/>
              <a:cs typeface="Arial" panose="020B0604020202020204" pitchFamily="34" charset="0"/>
            </a:endParaRPr>
          </a:p>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Multilingual Support to help candidates prepare for interviews in multiple regional and international languages.</a:t>
            </a:r>
            <a:endParaRPr lang="en-US" altLang="en-US" sz="1800">
              <a:solidFill>
                <a:srgbClr val="2B3541"/>
              </a:solidFill>
              <a:latin typeface="Arial" panose="020B0604020202020204" pitchFamily="34" charset="0"/>
              <a:cs typeface="Arial" panose="020B0604020202020204" pitchFamily="34" charset="0"/>
            </a:endParaRPr>
          </a:p>
          <a:p>
            <a:pPr marL="285750" indent="-285750" algn="just">
              <a:lnSpc>
                <a:spcPct val="150000"/>
              </a:lnSpc>
              <a:buFont typeface="Arial" panose="020B0604020202020204"/>
              <a:buChar char="•"/>
            </a:pPr>
            <a:r>
              <a:rPr lang="en-US" altLang="en-US" sz="1800">
                <a:solidFill>
                  <a:srgbClr val="2B3541"/>
                </a:solidFill>
                <a:latin typeface="Arial" panose="020B0604020202020204" pitchFamily="34" charset="0"/>
                <a:cs typeface="Arial" panose="020B0604020202020204" pitchFamily="34" charset="0"/>
              </a:rPr>
              <a:t>AI Career Guidance by recommending courses, certifications, and skill improvements based on interview performance.</a:t>
            </a:r>
            <a:endParaRPr lang="en-US" altLang="en-US" sz="1800">
              <a:solidFill>
                <a:srgbClr val="2B3541"/>
              </a:solidFill>
              <a:latin typeface="Arial" panose="020B0604020202020204" pitchFamily="34" charset="0"/>
              <a:cs typeface="Arial" panose="020B0604020202020204" pitchFamily="34" charset="0"/>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pic>
        <p:nvPicPr>
          <p:cNvPr id="9" name="Picture 8" descr="Screenshot 2026-07-14 184212"/>
          <p:cNvPicPr>
            <a:picLocks noChangeAspect="1"/>
          </p:cNvPicPr>
          <p:nvPr/>
        </p:nvPicPr>
        <p:blipFill>
          <a:blip r:embed="rId1"/>
          <a:stretch>
            <a:fillRect/>
          </a:stretch>
        </p:blipFill>
        <p:spPr>
          <a:xfrm>
            <a:off x="2867025" y="937895"/>
            <a:ext cx="6457950" cy="49815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2" name="Picture 1"/>
          <p:cNvPicPr>
            <a:picLocks noChangeAspect="1"/>
          </p:cNvPicPr>
          <p:nvPr/>
        </p:nvPicPr>
        <p:blipFill>
          <a:blip r:embed="rId1"/>
          <a:stretch>
            <a:fillRect/>
          </a:stretch>
        </p:blipFill>
        <p:spPr>
          <a:xfrm>
            <a:off x="2790825" y="1404620"/>
            <a:ext cx="6610350" cy="40481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 Box 1"/>
          <p:cNvSpPr txBox="1"/>
          <p:nvPr/>
        </p:nvSpPr>
        <p:spPr>
          <a:xfrm>
            <a:off x="3556000" y="2280920"/>
            <a:ext cx="5080000" cy="1265555"/>
          </a:xfrm>
          <a:prstGeom prst="rect">
            <a:avLst/>
          </a:prstGeom>
        </p:spPr>
        <p:txBody>
          <a:bodyPr>
            <a:noAutofit/>
          </a:bodyPr>
          <a:p>
            <a:pPr algn="just"/>
            <a:r>
              <a:rPr lang="en-US" altLang="zh-CN" sz="4800" b="1"/>
              <a:t>Thank You!</a:t>
            </a:r>
            <a:endParaRPr lang="en-US" altLang="zh-CN" sz="48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5132</Words>
  <Application>WPS Presentation</Application>
  <PresentationFormat>Widescreen</PresentationFormat>
  <Paragraphs>104</Paragraphs>
  <Slides>16</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Manogna</cp:lastModifiedBy>
  <cp:revision>4</cp:revision>
  <dcterms:created xsi:type="dcterms:W3CDTF">2025-07-08T05:06:00Z</dcterms:created>
  <dcterms:modified xsi:type="dcterms:W3CDTF">2026-07-14T14:02:14Z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49600456450545639D0E84E7AE8A1526_13</vt:lpwstr>
  </property>
</Properties>
</file>